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0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58" r:id="rId7"/>
    <p:sldId id="259" r:id="rId8"/>
    <p:sldId id="260" r:id="rId9"/>
    <p:sldId id="261" r:id="rId10"/>
    <p:sldId id="262" r:id="rId11"/>
    <p:sldId id="266" r:id="rId12"/>
  </p:sldIdLst>
  <p:sldSz cx="18288000" cy="10287000"/>
  <p:notesSz cx="6858000" cy="9144000"/>
  <p:embeddedFontLst>
    <p:embeddedFont>
      <p:font typeface="Arimo" panose="020B0604020202020204" charset="0"/>
      <p:regular r:id="rId13"/>
    </p:embeddedFont>
    <p:embeddedFont>
      <p:font typeface="Montserrat Bold" panose="020B0604020202020204" charset="0"/>
      <p:regular r:id="rId14"/>
      <p:bold r:id="rId15"/>
    </p:embeddedFont>
    <p:embeddedFont>
      <p:font typeface="Playfair Display Bold" panose="020B0604020202020204" charset="0"/>
      <p:regular r:id="rId16"/>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957102F-43BD-B36D-5265-7AA713B9A697}" name="RAHUL M" initials="R2" userId="S::rahul.m2025a@vitstudent.ac.in::654a89b8-b5fb-4148-bb2f-9bc41721b9a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B1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5.fntdata"/><Relationship Id="rId2" Type="http://schemas.openxmlformats.org/officeDocument/2006/relationships/customXml" Target="../customXml/item2.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font" Target="fonts/font3.fntdata"/><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2.fntdata"/><Relationship Id="rId22" Type="http://schemas.microsoft.com/office/2018/10/relationships/authors" Target="authors.xml"/></Relationships>
</file>

<file path=ppt/comments/modernComment_100_0.xml><?xml version="1.0" encoding="utf-8"?>
<p188:cmLst xmlns:a="http://schemas.openxmlformats.org/drawingml/2006/main" xmlns:r="http://schemas.openxmlformats.org/officeDocument/2006/relationships" xmlns:p188="http://schemas.microsoft.com/office/powerpoint/2018/8/main">
  <p188:cm id="{DCD0CB55-B32F-4731-AFCA-ADCEC65738C3}" authorId="{9957102F-43BD-B36D-5265-7AA713B9A697}" created="2026-03-08T18:24:58.586">
    <pc:sldMkLst xmlns:pc="http://schemas.microsoft.com/office/powerpoint/2013/main/command">
      <pc:docMk/>
      <pc:sldMk cId="0" sldId="256"/>
    </pc:sldMkLst>
    <p188:txBody>
      <a:bodyPr/>
      <a:lstStyle/>
      <a:p>
        <a:r>
          <a:rPr lang="en-SG"/>
          <a:t>Go to File-&gt;Create a copy-&gt;Download</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microsoft.com/office/2018/10/relationships/comments" Target="../comments/modernComment_100_0.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SG"/>
          </a:p>
        </p:txBody>
      </p:sp>
      <p:grpSp>
        <p:nvGrpSpPr>
          <p:cNvPr id="3" name="Group 3"/>
          <p:cNvGrpSpPr/>
          <p:nvPr/>
        </p:nvGrpSpPr>
        <p:grpSpPr>
          <a:xfrm>
            <a:off x="632753" y="636360"/>
            <a:ext cx="17103324" cy="1479628"/>
            <a:chOff x="0" y="0"/>
            <a:chExt cx="22804433" cy="1972837"/>
          </a:xfrm>
        </p:grpSpPr>
        <p:grpSp>
          <p:nvGrpSpPr>
            <p:cNvPr id="4" name="Group 4"/>
            <p:cNvGrpSpPr/>
            <p:nvPr/>
          </p:nvGrpSpPr>
          <p:grpSpPr>
            <a:xfrm>
              <a:off x="14170825" y="0"/>
              <a:ext cx="8633608" cy="1747411"/>
              <a:chOff x="0" y="0"/>
              <a:chExt cx="979436" cy="198234"/>
            </a:xfrm>
          </p:grpSpPr>
          <p:sp>
            <p:nvSpPr>
              <p:cNvPr id="5" name="Freeform 5"/>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6" name="TextBox 6"/>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7" name="TextBox 7"/>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8" name="Freeform 8"/>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4"/>
              <a:stretch>
                <a:fillRect l="-12251" t="-36010" r="-12482" b="-53141"/>
              </a:stretch>
            </a:blipFill>
          </p:spPr>
          <p:txBody>
            <a:bodyPr/>
            <a:lstStyle/>
            <a:p>
              <a:endParaRPr lang="en-SG"/>
            </a:p>
          </p:txBody>
        </p:sp>
        <p:grpSp>
          <p:nvGrpSpPr>
            <p:cNvPr id="9" name="Group 9"/>
            <p:cNvGrpSpPr/>
            <p:nvPr/>
          </p:nvGrpSpPr>
          <p:grpSpPr>
            <a:xfrm>
              <a:off x="20167830" y="331442"/>
              <a:ext cx="1084526" cy="1084526"/>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txBody>
              <a:bodyPr/>
              <a:lstStyle/>
              <a:p>
                <a:endParaRPr lang="en-SG"/>
              </a:p>
            </p:txBody>
          </p:sp>
        </p:grpSp>
        <p:sp>
          <p:nvSpPr>
            <p:cNvPr id="11" name="Freeform 11"/>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6"/>
              <a:stretch>
                <a:fillRect l="-95" t="-40049" r="-7054" b="-38629"/>
              </a:stretch>
            </a:blipFill>
          </p:spPr>
          <p:txBody>
            <a:bodyPr/>
            <a:lstStyle/>
            <a:p>
              <a:endParaRPr lang="en-SG"/>
            </a:p>
          </p:txBody>
        </p:sp>
        <p:sp>
          <p:nvSpPr>
            <p:cNvPr id="12" name="Freeform 12"/>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7"/>
              <a:stretch>
                <a:fillRect/>
              </a:stretch>
            </a:blipFill>
          </p:spPr>
          <p:txBody>
            <a:bodyPr/>
            <a:lstStyle/>
            <a:p>
              <a:endParaRPr lang="en-SG"/>
            </a:p>
          </p:txBody>
        </p:sp>
      </p:grpSp>
      <p:sp>
        <p:nvSpPr>
          <p:cNvPr id="13" name="TextBox 13"/>
          <p:cNvSpPr txBox="1"/>
          <p:nvPr/>
        </p:nvSpPr>
        <p:spPr>
          <a:xfrm>
            <a:off x="-844108" y="4376608"/>
            <a:ext cx="19976215" cy="1800484"/>
          </a:xfrm>
          <a:prstGeom prst="rect">
            <a:avLst/>
          </a:prstGeom>
        </p:spPr>
        <p:txBody>
          <a:bodyPr lIns="0" tIns="0" rIns="0" bIns="0" rtlCol="0" anchor="t">
            <a:spAutoFit/>
          </a:bodyPr>
          <a:lstStyle/>
          <a:p>
            <a:pPr algn="ctr">
              <a:lnSpc>
                <a:spcPts val="13588"/>
              </a:lnSpc>
            </a:pPr>
            <a:r>
              <a:rPr lang="en-US" sz="13588" b="1" dirty="0" err="1">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MediSynC</a:t>
            </a:r>
            <a:endParaRPr lang="en-US" sz="13588"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endParaRPr>
          </a:p>
        </p:txBody>
      </p:sp>
      <p:sp>
        <p:nvSpPr>
          <p:cNvPr id="14" name="TextBox 14"/>
          <p:cNvSpPr txBox="1"/>
          <p:nvPr/>
        </p:nvSpPr>
        <p:spPr>
          <a:xfrm>
            <a:off x="5257410" y="7408001"/>
            <a:ext cx="7115499" cy="961587"/>
          </a:xfrm>
          <a:prstGeom prst="rect">
            <a:avLst/>
          </a:prstGeom>
        </p:spPr>
        <p:txBody>
          <a:bodyPr lIns="0" tIns="0" rIns="0" bIns="0" rtlCol="0" anchor="t">
            <a:spAutoFit/>
          </a:bodyPr>
          <a:lstStyle/>
          <a:p>
            <a:pPr algn="ctr">
              <a:lnSpc>
                <a:spcPts val="7268"/>
              </a:lnSpc>
            </a:pPr>
            <a:r>
              <a:rPr lang="en-US" sz="7268" b="1" dirty="0" err="1">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DevÉlan</a:t>
            </a:r>
            <a:r>
              <a:rPr lang="en-US" sz="7268"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a:t>
            </a:r>
          </a:p>
        </p:txBody>
      </p:sp>
    </p:spTree>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27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SG"/>
          </a:p>
        </p:txBody>
      </p:sp>
      <p:sp>
        <p:nvSpPr>
          <p:cNvPr id="3" name="TextBox 3"/>
          <p:cNvSpPr txBox="1"/>
          <p:nvPr/>
        </p:nvSpPr>
        <p:spPr>
          <a:xfrm>
            <a:off x="2483857" y="2686618"/>
            <a:ext cx="12596178" cy="961587"/>
          </a:xfrm>
          <a:prstGeom prst="rect">
            <a:avLst/>
          </a:prstGeom>
        </p:spPr>
        <p:txBody>
          <a:bodyPr lIns="0" tIns="0" rIns="0" bIns="0" rtlCol="0" anchor="t">
            <a:spAutoFit/>
          </a:bodyPr>
          <a:lstStyle/>
          <a:p>
            <a:pPr algn="ctr">
              <a:lnSpc>
                <a:spcPts val="7268"/>
              </a:lnSpc>
            </a:pPr>
            <a:r>
              <a:rPr lang="en-US" sz="7268" b="1" dirty="0">
                <a:solidFill>
                  <a:srgbClr val="8FB1AB"/>
                </a:solidFill>
                <a:latin typeface="Montserrat Bold"/>
                <a:ea typeface="Montserrat Bold"/>
                <a:cs typeface="Montserrat Bold"/>
                <a:sym typeface="Montserrat Bold"/>
              </a:rPr>
              <a:t>GUIDELINES</a:t>
            </a:r>
          </a:p>
        </p:txBody>
      </p:sp>
      <p:sp>
        <p:nvSpPr>
          <p:cNvPr id="4" name="TextBox 4"/>
          <p:cNvSpPr txBox="1"/>
          <p:nvPr/>
        </p:nvSpPr>
        <p:spPr>
          <a:xfrm>
            <a:off x="632753" y="4160270"/>
            <a:ext cx="14975733" cy="5543643"/>
          </a:xfrm>
          <a:prstGeom prst="rect">
            <a:avLst/>
          </a:prstGeom>
        </p:spPr>
        <p:txBody>
          <a:bodyPr lIns="0" tIns="0" rIns="0" bIns="0" rtlCol="0" anchor="t">
            <a:spAutoFit/>
          </a:bodyPr>
          <a:lstStyle/>
          <a:p>
            <a:pPr marL="677666" lvl="1" indent="-338833" algn="l">
              <a:lnSpc>
                <a:spcPts val="4394"/>
              </a:lnSpc>
              <a:buFont typeface="Arial"/>
              <a:buChar char="•"/>
            </a:pPr>
            <a:r>
              <a:rPr lang="en-US" sz="3138" dirty="0">
                <a:solidFill>
                  <a:schemeClr val="bg1"/>
                </a:solidFill>
                <a:latin typeface="Arimo"/>
                <a:ea typeface="Arimo"/>
                <a:cs typeface="Arimo"/>
                <a:sym typeface="Arimo"/>
              </a:rPr>
              <a:t>GitHub Submission: Submit your GitHub repository 8 hours before final evaluation.</a:t>
            </a:r>
          </a:p>
          <a:p>
            <a:pPr marL="677666" lvl="1" indent="-338833" algn="l">
              <a:lnSpc>
                <a:spcPts val="4394"/>
              </a:lnSpc>
              <a:buFont typeface="Arial"/>
              <a:buChar char="•"/>
            </a:pPr>
            <a:r>
              <a:rPr lang="en-US" sz="3138" dirty="0">
                <a:solidFill>
                  <a:schemeClr val="bg1"/>
                </a:solidFill>
                <a:latin typeface="Arimo"/>
                <a:ea typeface="Arimo"/>
                <a:cs typeface="Arimo"/>
                <a:sym typeface="Arimo"/>
              </a:rPr>
              <a:t>Deployment: Deploy the complete project repository (frontend deployment optional).</a:t>
            </a:r>
          </a:p>
          <a:p>
            <a:pPr marL="677666" lvl="1" indent="-338833" algn="l">
              <a:lnSpc>
                <a:spcPts val="4394"/>
              </a:lnSpc>
              <a:buFont typeface="Arial"/>
              <a:buChar char="•"/>
            </a:pPr>
            <a:r>
              <a:rPr lang="en-US" sz="3138" dirty="0">
                <a:solidFill>
                  <a:schemeClr val="bg1"/>
                </a:solidFill>
                <a:latin typeface="Arimo"/>
                <a:ea typeface="Arimo"/>
                <a:cs typeface="Arimo"/>
                <a:sym typeface="Arimo"/>
              </a:rPr>
              <a:t>Plagiarism Check: All submissions will undergo plagiarism verification.</a:t>
            </a:r>
          </a:p>
          <a:p>
            <a:pPr marL="677666" lvl="1" indent="-338833" algn="l">
              <a:lnSpc>
                <a:spcPts val="4394"/>
              </a:lnSpc>
              <a:buFont typeface="Arial"/>
              <a:buChar char="•"/>
            </a:pPr>
            <a:r>
              <a:rPr lang="en-US" sz="3138" dirty="0">
                <a:solidFill>
                  <a:schemeClr val="bg1"/>
                </a:solidFill>
                <a:latin typeface="Arimo"/>
                <a:ea typeface="Arimo"/>
                <a:cs typeface="Arimo"/>
                <a:sym typeface="Arimo"/>
              </a:rPr>
              <a:t>Pitch Format: Round 1 &amp; Round 2 will include a 7-minute project pitch + evaluation.</a:t>
            </a:r>
          </a:p>
          <a:p>
            <a:pPr marL="677666" lvl="1" indent="-338833" algn="l">
              <a:lnSpc>
                <a:spcPts val="4394"/>
              </a:lnSpc>
              <a:buFont typeface="Arial"/>
              <a:buChar char="•"/>
            </a:pPr>
            <a:r>
              <a:rPr lang="en-US" sz="3138" dirty="0">
                <a:solidFill>
                  <a:schemeClr val="bg1"/>
                </a:solidFill>
                <a:latin typeface="Arimo"/>
                <a:ea typeface="Arimo"/>
                <a:cs typeface="Arimo"/>
                <a:sym typeface="Arimo"/>
              </a:rPr>
              <a:t>Team Requirement: Minimum 3 team members must be present during evaluation.</a:t>
            </a:r>
          </a:p>
          <a:p>
            <a:pPr algn="l">
              <a:lnSpc>
                <a:spcPts val="4394"/>
              </a:lnSpc>
              <a:spcBef>
                <a:spcPct val="0"/>
              </a:spcBef>
            </a:pPr>
            <a:endParaRPr lang="en-US" sz="3138" dirty="0">
              <a:solidFill>
                <a:srgbClr val="FFFFFF"/>
              </a:solidFill>
              <a:latin typeface="Arimo"/>
              <a:ea typeface="Arimo"/>
              <a:cs typeface="Arimo"/>
              <a:sym typeface="Arimo"/>
            </a:endParaRPr>
          </a:p>
        </p:txBody>
      </p:sp>
      <p:grpSp>
        <p:nvGrpSpPr>
          <p:cNvPr id="5" name="Group 5"/>
          <p:cNvGrpSpPr/>
          <p:nvPr/>
        </p:nvGrpSpPr>
        <p:grpSpPr>
          <a:xfrm>
            <a:off x="632753" y="636360"/>
            <a:ext cx="17103324" cy="1479628"/>
            <a:chOff x="0" y="0"/>
            <a:chExt cx="22804433" cy="1972837"/>
          </a:xfrm>
        </p:grpSpPr>
        <p:grpSp>
          <p:nvGrpSpPr>
            <p:cNvPr id="6" name="Group 6"/>
            <p:cNvGrpSpPr/>
            <p:nvPr/>
          </p:nvGrpSpPr>
          <p:grpSpPr>
            <a:xfrm>
              <a:off x="14170825" y="0"/>
              <a:ext cx="8633608" cy="1747411"/>
              <a:chOff x="0" y="0"/>
              <a:chExt cx="979436" cy="198234"/>
            </a:xfrm>
          </p:grpSpPr>
          <p:sp>
            <p:nvSpPr>
              <p:cNvPr id="7" name="Freeform 7"/>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8" name="TextBox 8"/>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9" name="TextBox 9"/>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10" name="Freeform 10"/>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3"/>
              <a:stretch>
                <a:fillRect l="-12251" t="-36010" r="-12482" b="-53141"/>
              </a:stretch>
            </a:blipFill>
          </p:spPr>
          <p:txBody>
            <a:bodyPr/>
            <a:lstStyle/>
            <a:p>
              <a:endParaRPr lang="en-SG"/>
            </a:p>
          </p:txBody>
        </p:sp>
        <p:grpSp>
          <p:nvGrpSpPr>
            <p:cNvPr id="11" name="Group 11"/>
            <p:cNvGrpSpPr/>
            <p:nvPr/>
          </p:nvGrpSpPr>
          <p:grpSpPr>
            <a:xfrm>
              <a:off x="20167830" y="331442"/>
              <a:ext cx="1084526" cy="108452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SG"/>
              </a:p>
            </p:txBody>
          </p:sp>
        </p:grpSp>
        <p:sp>
          <p:nvSpPr>
            <p:cNvPr id="13" name="Freeform 13"/>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5"/>
              <a:stretch>
                <a:fillRect l="-95" t="-40049" r="-7054" b="-38629"/>
              </a:stretch>
            </a:blipFill>
          </p:spPr>
          <p:txBody>
            <a:bodyPr/>
            <a:lstStyle/>
            <a:p>
              <a:endParaRPr lang="en-SG"/>
            </a:p>
          </p:txBody>
        </p:sp>
        <p:sp>
          <p:nvSpPr>
            <p:cNvPr id="14" name="Freeform 14"/>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6"/>
              <a:stretch>
                <a:fillRect/>
              </a:stretch>
            </a:blipFill>
          </p:spPr>
          <p:txBody>
            <a:bodyPr/>
            <a:lstStyle/>
            <a:p>
              <a:endParaRPr lang="en-SG"/>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SG"/>
          </a:p>
        </p:txBody>
      </p:sp>
      <p:sp>
        <p:nvSpPr>
          <p:cNvPr id="3" name="TextBox 3"/>
          <p:cNvSpPr txBox="1"/>
          <p:nvPr/>
        </p:nvSpPr>
        <p:spPr>
          <a:xfrm>
            <a:off x="743477" y="1908423"/>
            <a:ext cx="16992600" cy="6935745"/>
          </a:xfrm>
          <a:prstGeom prst="rect">
            <a:avLst/>
          </a:prstGeom>
        </p:spPr>
        <p:txBody>
          <a:bodyPr wrap="square" lIns="0" tIns="0" rIns="0" bIns="0" rtlCol="0" anchor="t">
            <a:spAutoFit/>
          </a:bodyPr>
          <a:lstStyle/>
          <a:p>
            <a:endParaRPr lang="en-IN" dirty="0">
              <a:highlight>
                <a:srgbClr val="FFFF00"/>
              </a:highlight>
              <a:latin typeface="Montserrat Bold" panose="020B0604020202020204" charset="0"/>
            </a:endParaRPr>
          </a:p>
          <a:p>
            <a:r>
              <a:rPr lang="en-IN" sz="7270" b="1" dirty="0">
                <a:solidFill>
                  <a:srgbClr val="8FB1AB"/>
                </a:solidFill>
                <a:latin typeface="Montserrat Bold" panose="020B0604020202020204" charset="0"/>
              </a:rPr>
              <a:t>Chronic Care Engagement Agent</a:t>
            </a:r>
          </a:p>
          <a:p>
            <a:r>
              <a:rPr lang="en-IN" sz="4000" b="1" dirty="0">
                <a:solidFill>
                  <a:schemeClr val="bg1"/>
                </a:solidFill>
                <a:latin typeface="Montserrat Bold" panose="020B0604020202020204" charset="0"/>
                <a:ea typeface="Montserrat Bold"/>
                <a:cs typeface="Montserrat Bold"/>
                <a:sym typeface="Montserrat Bold"/>
              </a:rPr>
              <a:t>	</a:t>
            </a:r>
          </a:p>
          <a:p>
            <a:r>
              <a:rPr lang="en-IN" sz="4000" dirty="0">
                <a:solidFill>
                  <a:schemeClr val="bg1"/>
                </a:solidFill>
              </a:rPr>
              <a:t>Effective management of chronic conditions—specifically </a:t>
            </a:r>
            <a:r>
              <a:rPr lang="en-IN" sz="4000" b="1" dirty="0">
                <a:solidFill>
                  <a:schemeClr val="bg1"/>
                </a:solidFill>
              </a:rPr>
              <a:t>Diabetes, Hypertension, Chronic Kidney Disease (CKD), and Hypothyroidism</a:t>
            </a:r>
            <a:r>
              <a:rPr lang="en-IN" sz="4000" dirty="0">
                <a:solidFill>
                  <a:schemeClr val="bg1"/>
                </a:solidFill>
              </a:rPr>
              <a:t>—relies on consistent clinical monitoring (e.g., HbA1c, blood pressure, and renal function tests) to prevent rapid, silent physiological decline.</a:t>
            </a:r>
            <a:r>
              <a:rPr lang="en-US" sz="4000" dirty="0">
                <a:solidFill>
                  <a:schemeClr val="bg1"/>
                </a:solidFill>
              </a:rPr>
              <a:t>Hospitals currently lack an automated, clinically-intelligent system to bridge the gap between </a:t>
            </a:r>
            <a:r>
              <a:rPr lang="en-US" sz="4000" b="1" dirty="0">
                <a:solidFill>
                  <a:schemeClr val="bg1"/>
                </a:solidFill>
              </a:rPr>
              <a:t>available patient data</a:t>
            </a:r>
            <a:r>
              <a:rPr lang="en-US" sz="4000" dirty="0">
                <a:solidFill>
                  <a:schemeClr val="bg1"/>
                </a:solidFill>
              </a:rPr>
              <a:t> and </a:t>
            </a:r>
            <a:r>
              <a:rPr lang="en-US" sz="4000" b="1" dirty="0">
                <a:solidFill>
                  <a:schemeClr val="bg1"/>
                </a:solidFill>
              </a:rPr>
              <a:t>proactive intervention</a:t>
            </a:r>
            <a:r>
              <a:rPr lang="en-US" sz="4000" dirty="0">
                <a:solidFill>
                  <a:schemeClr val="bg1"/>
                </a:solidFill>
              </a:rPr>
              <a:t>. This results in high-risk chronic patients 'falling through the cracks,' progressing silently from manageable conditions to costly, life-threatening emergency admissions due to unmonitored care gaps.</a:t>
            </a:r>
            <a:endParaRPr lang="en-US" sz="4000" b="1" dirty="0">
              <a:solidFill>
                <a:schemeClr val="bg1"/>
              </a:solidFill>
              <a:latin typeface="Montserrat Bold" panose="020B0604020202020204" charset="0"/>
              <a:ea typeface="Montserrat Bold"/>
              <a:cs typeface="Montserrat Bold"/>
              <a:sym typeface="Montserrat Bold"/>
            </a:endParaRPr>
          </a:p>
        </p:txBody>
      </p:sp>
      <p:grpSp>
        <p:nvGrpSpPr>
          <p:cNvPr id="4" name="Group 4"/>
          <p:cNvGrpSpPr/>
          <p:nvPr/>
        </p:nvGrpSpPr>
        <p:grpSpPr>
          <a:xfrm>
            <a:off x="632753" y="636360"/>
            <a:ext cx="17103324" cy="1479628"/>
            <a:chOff x="0" y="0"/>
            <a:chExt cx="22804433" cy="1972837"/>
          </a:xfrm>
        </p:grpSpPr>
        <p:grpSp>
          <p:nvGrpSpPr>
            <p:cNvPr id="5" name="Group 5"/>
            <p:cNvGrpSpPr/>
            <p:nvPr/>
          </p:nvGrpSpPr>
          <p:grpSpPr>
            <a:xfrm>
              <a:off x="14170825" y="0"/>
              <a:ext cx="8633608" cy="1747411"/>
              <a:chOff x="0" y="0"/>
              <a:chExt cx="979436" cy="198234"/>
            </a:xfrm>
          </p:grpSpPr>
          <p:sp>
            <p:nvSpPr>
              <p:cNvPr id="6" name="Freeform 6"/>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7" name="TextBox 7"/>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8" name="TextBox 8"/>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9" name="Freeform 9"/>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3"/>
              <a:stretch>
                <a:fillRect l="-12251" t="-36010" r="-12482" b="-53141"/>
              </a:stretch>
            </a:blipFill>
          </p:spPr>
          <p:txBody>
            <a:bodyPr/>
            <a:lstStyle/>
            <a:p>
              <a:endParaRPr lang="en-SG"/>
            </a:p>
          </p:txBody>
        </p:sp>
        <p:grpSp>
          <p:nvGrpSpPr>
            <p:cNvPr id="10" name="Group 10"/>
            <p:cNvGrpSpPr/>
            <p:nvPr/>
          </p:nvGrpSpPr>
          <p:grpSpPr>
            <a:xfrm>
              <a:off x="20167830" y="331442"/>
              <a:ext cx="1084526" cy="108452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SG"/>
              </a:p>
            </p:txBody>
          </p:sp>
        </p:grpSp>
        <p:sp>
          <p:nvSpPr>
            <p:cNvPr id="12" name="Freeform 12"/>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5"/>
              <a:stretch>
                <a:fillRect l="-95" t="-40049" r="-7054" b="-38629"/>
              </a:stretch>
            </a:blipFill>
          </p:spPr>
          <p:txBody>
            <a:bodyPr/>
            <a:lstStyle/>
            <a:p>
              <a:endParaRPr lang="en-SG"/>
            </a:p>
          </p:txBody>
        </p:sp>
        <p:sp>
          <p:nvSpPr>
            <p:cNvPr id="13" name="Freeform 13"/>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6"/>
              <a:stretch>
                <a:fillRect/>
              </a:stretch>
            </a:blipFill>
          </p:spPr>
          <p:txBody>
            <a:bodyPr/>
            <a:lstStyle/>
            <a:p>
              <a:endParaRPr lang="en-SG"/>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SG"/>
          </a:p>
        </p:txBody>
      </p:sp>
      <p:sp>
        <p:nvSpPr>
          <p:cNvPr id="3" name="TextBox 3"/>
          <p:cNvSpPr txBox="1"/>
          <p:nvPr/>
        </p:nvSpPr>
        <p:spPr>
          <a:xfrm>
            <a:off x="-28433" y="2084079"/>
            <a:ext cx="18287999" cy="6719981"/>
          </a:xfrm>
          <a:prstGeom prst="rect">
            <a:avLst/>
          </a:prstGeom>
        </p:spPr>
        <p:txBody>
          <a:bodyPr wrap="square" lIns="0" tIns="0" rIns="0" bIns="0" rtlCol="0" anchor="t">
            <a:spAutoFit/>
          </a:bodyPr>
          <a:lstStyle/>
          <a:p>
            <a:r>
              <a:rPr lang="en-US" sz="7268"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   OUR SOLUTION</a:t>
            </a:r>
            <a:endParaRPr lang="en-US" sz="4000" dirty="0">
              <a:solidFill>
                <a:srgbClr val="8FB1AB"/>
              </a:solidFill>
            </a:endParaRPr>
          </a:p>
          <a:p>
            <a:r>
              <a:rPr lang="en-US" sz="4000" dirty="0">
                <a:solidFill>
                  <a:srgbClr val="8FB1AB"/>
                </a:solidFill>
              </a:rPr>
              <a:t>	</a:t>
            </a:r>
          </a:p>
          <a:p>
            <a:pPr lvl="1"/>
            <a:r>
              <a:rPr lang="en-US" sz="3600" dirty="0">
                <a:solidFill>
                  <a:schemeClr val="bg1"/>
                </a:solidFill>
              </a:rPr>
              <a:t>	</a:t>
            </a:r>
            <a:r>
              <a:rPr lang="en-US" sz="3600" dirty="0" err="1">
                <a:solidFill>
                  <a:schemeClr val="bg1"/>
                </a:solidFill>
              </a:rPr>
              <a:t>MediSynC</a:t>
            </a:r>
            <a:r>
              <a:rPr lang="en-US" sz="3600" dirty="0">
                <a:solidFill>
                  <a:schemeClr val="bg1"/>
                </a:solidFill>
              </a:rPr>
              <a:t> is an AI-driven proactive healthcare platform that continuously monitors patient health records to identify gaps in chronic disease care before they become serious complications. The system analyzes patient data daily, detects overdue tests or abnormal results, and automatically sends empathetic, personalized WhatsApp messages through Twilio in the patient’s preferred language. Patients can directly respond to schedule home test collections or seek clarification, enabling seamless interaction without visiting the hospital. The platform integrates web and mobile applications built with Flutter and a centralized database on MongoDB, ensuring doctors, hospitals, and patients stay connected through a single intelligent healthcare ecosystem.</a:t>
            </a:r>
            <a:endParaRPr lang="en-US" sz="3600" b="1" dirty="0">
              <a:solidFill>
                <a:schemeClr val="bg1"/>
              </a:solidFill>
              <a:latin typeface="Montserrat Bold"/>
              <a:ea typeface="Montserrat Bold"/>
              <a:cs typeface="Montserrat Bold"/>
              <a:sym typeface="Montserrat Bold"/>
            </a:endParaRPr>
          </a:p>
        </p:txBody>
      </p:sp>
      <p:grpSp>
        <p:nvGrpSpPr>
          <p:cNvPr id="4" name="Group 4"/>
          <p:cNvGrpSpPr/>
          <p:nvPr/>
        </p:nvGrpSpPr>
        <p:grpSpPr>
          <a:xfrm>
            <a:off x="632753" y="636360"/>
            <a:ext cx="17103324" cy="1479628"/>
            <a:chOff x="0" y="0"/>
            <a:chExt cx="22804433" cy="1972837"/>
          </a:xfrm>
        </p:grpSpPr>
        <p:grpSp>
          <p:nvGrpSpPr>
            <p:cNvPr id="5" name="Group 5"/>
            <p:cNvGrpSpPr/>
            <p:nvPr/>
          </p:nvGrpSpPr>
          <p:grpSpPr>
            <a:xfrm>
              <a:off x="14170825" y="0"/>
              <a:ext cx="8633608" cy="1747411"/>
              <a:chOff x="0" y="0"/>
              <a:chExt cx="979436" cy="198234"/>
            </a:xfrm>
          </p:grpSpPr>
          <p:sp>
            <p:nvSpPr>
              <p:cNvPr id="6" name="Freeform 6"/>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7" name="TextBox 7"/>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8" name="TextBox 8"/>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9" name="Freeform 9"/>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3"/>
              <a:stretch>
                <a:fillRect l="-12251" t="-36010" r="-12482" b="-53141"/>
              </a:stretch>
            </a:blipFill>
          </p:spPr>
          <p:txBody>
            <a:bodyPr/>
            <a:lstStyle/>
            <a:p>
              <a:endParaRPr lang="en-SG"/>
            </a:p>
          </p:txBody>
        </p:sp>
        <p:grpSp>
          <p:nvGrpSpPr>
            <p:cNvPr id="10" name="Group 10"/>
            <p:cNvGrpSpPr/>
            <p:nvPr/>
          </p:nvGrpSpPr>
          <p:grpSpPr>
            <a:xfrm>
              <a:off x="20167830" y="331442"/>
              <a:ext cx="1084526" cy="108452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SG"/>
              </a:p>
            </p:txBody>
          </p:sp>
        </p:grpSp>
        <p:sp>
          <p:nvSpPr>
            <p:cNvPr id="12" name="Freeform 12"/>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5"/>
              <a:stretch>
                <a:fillRect l="-95" t="-40049" r="-7054" b="-38629"/>
              </a:stretch>
            </a:blipFill>
          </p:spPr>
          <p:txBody>
            <a:bodyPr/>
            <a:lstStyle/>
            <a:p>
              <a:endParaRPr lang="en-SG"/>
            </a:p>
          </p:txBody>
        </p:sp>
        <p:sp>
          <p:nvSpPr>
            <p:cNvPr id="13" name="Freeform 13"/>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6"/>
              <a:stretch>
                <a:fillRect/>
              </a:stretch>
            </a:blipFill>
          </p:spPr>
          <p:txBody>
            <a:bodyPr/>
            <a:lstStyle/>
            <a:p>
              <a:endParaRPr lang="en-SG"/>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SG"/>
          </a:p>
        </p:txBody>
      </p:sp>
      <p:sp>
        <p:nvSpPr>
          <p:cNvPr id="3" name="TextBox 3"/>
          <p:cNvSpPr txBox="1"/>
          <p:nvPr/>
        </p:nvSpPr>
        <p:spPr>
          <a:xfrm>
            <a:off x="632753" y="2430845"/>
            <a:ext cx="17571086" cy="6255559"/>
          </a:xfrm>
          <a:prstGeom prst="rect">
            <a:avLst/>
          </a:prstGeom>
        </p:spPr>
        <p:txBody>
          <a:bodyPr wrap="square" lIns="0" tIns="0" rIns="0" bIns="0" rtlCol="0" anchor="t">
            <a:spAutoFit/>
          </a:bodyPr>
          <a:lstStyle/>
          <a:p>
            <a:pPr>
              <a:lnSpc>
                <a:spcPts val="7300"/>
              </a:lnSpc>
            </a:pPr>
            <a:r>
              <a:rPr lang="en-US" sz="73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INNOVATION</a:t>
            </a:r>
            <a:endParaRPr lang="en-US" sz="7300" b="1" dirty="0">
              <a:solidFill>
                <a:schemeClr val="bg1"/>
              </a:solidFill>
              <a:latin typeface="Montserrat Bold"/>
              <a:ea typeface="Montserrat Bold"/>
              <a:cs typeface="Montserrat Bold"/>
              <a:sym typeface="Montserrat Bold"/>
            </a:endParaRPr>
          </a:p>
          <a:p>
            <a:r>
              <a:rPr lang="en-US" sz="4000" b="1" dirty="0">
                <a:solidFill>
                  <a:schemeClr val="bg1"/>
                </a:solidFill>
                <a:latin typeface="Montserrat Bold"/>
                <a:ea typeface="Montserrat Bold"/>
                <a:cs typeface="Montserrat Bold"/>
                <a:sym typeface="Montserrat Bold"/>
              </a:rPr>
              <a:t>	</a:t>
            </a:r>
            <a:r>
              <a:rPr lang="en-US" sz="3600" dirty="0" err="1">
                <a:solidFill>
                  <a:schemeClr val="bg1"/>
                </a:solidFill>
              </a:rPr>
              <a:t>MediSynC</a:t>
            </a:r>
            <a:r>
              <a:rPr lang="en-US" sz="3600" dirty="0">
                <a:solidFill>
                  <a:schemeClr val="bg1"/>
                </a:solidFill>
              </a:rPr>
              <a:t> introduces a proactive AI care agent that continuously monitors patient health data, detects care gaps early, and engages patients through empathetic, multilingual WhatsApp communication powered by Twilio.</a:t>
            </a:r>
            <a:endParaRPr lang="en-US" sz="7300" b="1" dirty="0">
              <a:solidFill>
                <a:schemeClr val="bg1"/>
              </a:solidFill>
              <a:latin typeface="Montserrat Bold"/>
              <a:ea typeface="Montserrat Bold"/>
              <a:cs typeface="Montserrat Bold"/>
              <a:sym typeface="Montserrat Bold"/>
            </a:endParaRPr>
          </a:p>
          <a:p>
            <a:pPr>
              <a:lnSpc>
                <a:spcPts val="7300"/>
              </a:lnSpc>
            </a:pPr>
            <a:endParaRPr lang="en-US" sz="73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endParaRPr>
          </a:p>
          <a:p>
            <a:pPr>
              <a:lnSpc>
                <a:spcPts val="7300"/>
              </a:lnSpc>
            </a:pPr>
            <a:r>
              <a:rPr lang="en-US" sz="73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USP</a:t>
            </a:r>
            <a:endParaRPr lang="en-US" sz="4000" b="1" dirty="0">
              <a:solidFill>
                <a:schemeClr val="bg1"/>
              </a:solidFill>
              <a:latin typeface="Montserrat Bold"/>
              <a:ea typeface="Montserrat Bold"/>
              <a:cs typeface="Montserrat Bold"/>
              <a:sym typeface="Montserrat Bold"/>
            </a:endParaRPr>
          </a:p>
          <a:p>
            <a:r>
              <a:rPr lang="en-US" sz="4000" b="1" dirty="0">
                <a:solidFill>
                  <a:schemeClr val="bg1"/>
                </a:solidFill>
                <a:latin typeface="Montserrat Bold"/>
                <a:ea typeface="Montserrat Bold"/>
                <a:cs typeface="Montserrat Bold"/>
                <a:sym typeface="Montserrat Bold"/>
              </a:rPr>
              <a:t>	</a:t>
            </a:r>
            <a:r>
              <a:rPr lang="en-US" sz="3600" dirty="0">
                <a:solidFill>
                  <a:schemeClr val="bg1"/>
                </a:solidFill>
              </a:rPr>
              <a:t>Unlike traditional systems, </a:t>
            </a:r>
            <a:r>
              <a:rPr lang="en-US" sz="3600" dirty="0" err="1">
                <a:solidFill>
                  <a:schemeClr val="bg1"/>
                </a:solidFill>
              </a:rPr>
              <a:t>MediSynC</a:t>
            </a:r>
            <a:r>
              <a:rPr lang="en-US" sz="3600" dirty="0">
                <a:solidFill>
                  <a:schemeClr val="bg1"/>
                </a:solidFill>
              </a:rPr>
              <a:t> combines AI monitoring, automated outreach, and a shared ecosystem across web and mobile apps built with Flutter and MongoDB, turning passive hospital records into an active, patient-engagement platform.</a:t>
            </a:r>
            <a:endParaRPr lang="en-US" sz="3600" b="1" dirty="0">
              <a:solidFill>
                <a:schemeClr val="bg1"/>
              </a:solidFill>
              <a:latin typeface="Montserrat Bold"/>
              <a:ea typeface="Montserrat Bold"/>
              <a:cs typeface="Montserrat Bold"/>
              <a:sym typeface="Montserrat Bold"/>
            </a:endParaRPr>
          </a:p>
        </p:txBody>
      </p:sp>
      <p:grpSp>
        <p:nvGrpSpPr>
          <p:cNvPr id="4" name="Group 4"/>
          <p:cNvGrpSpPr/>
          <p:nvPr/>
        </p:nvGrpSpPr>
        <p:grpSpPr>
          <a:xfrm>
            <a:off x="632753" y="636360"/>
            <a:ext cx="17103324" cy="1479628"/>
            <a:chOff x="0" y="0"/>
            <a:chExt cx="22804433" cy="1972837"/>
          </a:xfrm>
        </p:grpSpPr>
        <p:grpSp>
          <p:nvGrpSpPr>
            <p:cNvPr id="5" name="Group 5"/>
            <p:cNvGrpSpPr/>
            <p:nvPr/>
          </p:nvGrpSpPr>
          <p:grpSpPr>
            <a:xfrm>
              <a:off x="14170825" y="0"/>
              <a:ext cx="8633608" cy="1747411"/>
              <a:chOff x="0" y="0"/>
              <a:chExt cx="979436" cy="198234"/>
            </a:xfrm>
          </p:grpSpPr>
          <p:sp>
            <p:nvSpPr>
              <p:cNvPr id="6" name="Freeform 6"/>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7" name="TextBox 7"/>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8" name="TextBox 8"/>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9" name="Freeform 9"/>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3"/>
              <a:stretch>
                <a:fillRect l="-12251" t="-36010" r="-12482" b="-53141"/>
              </a:stretch>
            </a:blipFill>
          </p:spPr>
          <p:txBody>
            <a:bodyPr/>
            <a:lstStyle/>
            <a:p>
              <a:endParaRPr lang="en-SG"/>
            </a:p>
          </p:txBody>
        </p:sp>
        <p:grpSp>
          <p:nvGrpSpPr>
            <p:cNvPr id="10" name="Group 10"/>
            <p:cNvGrpSpPr/>
            <p:nvPr/>
          </p:nvGrpSpPr>
          <p:grpSpPr>
            <a:xfrm>
              <a:off x="20167830" y="331442"/>
              <a:ext cx="1084526" cy="108452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SG"/>
              </a:p>
            </p:txBody>
          </p:sp>
        </p:grpSp>
        <p:sp>
          <p:nvSpPr>
            <p:cNvPr id="12" name="Freeform 12"/>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5"/>
              <a:stretch>
                <a:fillRect l="-95" t="-40049" r="-7054" b="-38629"/>
              </a:stretch>
            </a:blipFill>
          </p:spPr>
          <p:txBody>
            <a:bodyPr/>
            <a:lstStyle/>
            <a:p>
              <a:endParaRPr lang="en-SG"/>
            </a:p>
          </p:txBody>
        </p:sp>
        <p:sp>
          <p:nvSpPr>
            <p:cNvPr id="13" name="Freeform 13"/>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6"/>
              <a:stretch>
                <a:fillRect/>
              </a:stretch>
            </a:blipFill>
          </p:spPr>
          <p:txBody>
            <a:bodyPr/>
            <a:lstStyle/>
            <a:p>
              <a:endParaRPr lang="en-SG"/>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SG"/>
          </a:p>
        </p:txBody>
      </p:sp>
      <p:sp>
        <p:nvSpPr>
          <p:cNvPr id="3" name="TextBox 3"/>
          <p:cNvSpPr txBox="1"/>
          <p:nvPr/>
        </p:nvSpPr>
        <p:spPr>
          <a:xfrm>
            <a:off x="632753" y="2285057"/>
            <a:ext cx="16588447" cy="936154"/>
          </a:xfrm>
          <a:prstGeom prst="rect">
            <a:avLst/>
          </a:prstGeom>
        </p:spPr>
        <p:txBody>
          <a:bodyPr wrap="square" lIns="0" tIns="0" rIns="0" bIns="0" rtlCol="0" anchor="t">
            <a:spAutoFit/>
          </a:bodyPr>
          <a:lstStyle/>
          <a:p>
            <a:pPr>
              <a:lnSpc>
                <a:spcPts val="7300"/>
              </a:lnSpc>
            </a:pPr>
            <a:r>
              <a:rPr lang="en-US" sz="73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WORKFLOW DIAGRAM</a:t>
            </a:r>
          </a:p>
        </p:txBody>
      </p:sp>
      <p:grpSp>
        <p:nvGrpSpPr>
          <p:cNvPr id="4" name="Group 4"/>
          <p:cNvGrpSpPr/>
          <p:nvPr/>
        </p:nvGrpSpPr>
        <p:grpSpPr>
          <a:xfrm>
            <a:off x="632753" y="636360"/>
            <a:ext cx="17103324" cy="1479628"/>
            <a:chOff x="0" y="0"/>
            <a:chExt cx="22804433" cy="1972837"/>
          </a:xfrm>
        </p:grpSpPr>
        <p:grpSp>
          <p:nvGrpSpPr>
            <p:cNvPr id="5" name="Group 5"/>
            <p:cNvGrpSpPr/>
            <p:nvPr/>
          </p:nvGrpSpPr>
          <p:grpSpPr>
            <a:xfrm>
              <a:off x="14170825" y="0"/>
              <a:ext cx="8633608" cy="1747411"/>
              <a:chOff x="0" y="0"/>
              <a:chExt cx="979436" cy="198234"/>
            </a:xfrm>
          </p:grpSpPr>
          <p:sp>
            <p:nvSpPr>
              <p:cNvPr id="6" name="Freeform 6"/>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7" name="TextBox 7"/>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8" name="TextBox 8"/>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9" name="Freeform 9"/>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3"/>
              <a:stretch>
                <a:fillRect l="-12251" t="-36010" r="-12482" b="-53141"/>
              </a:stretch>
            </a:blipFill>
          </p:spPr>
          <p:txBody>
            <a:bodyPr/>
            <a:lstStyle/>
            <a:p>
              <a:endParaRPr lang="en-SG"/>
            </a:p>
          </p:txBody>
        </p:sp>
        <p:grpSp>
          <p:nvGrpSpPr>
            <p:cNvPr id="10" name="Group 10"/>
            <p:cNvGrpSpPr/>
            <p:nvPr/>
          </p:nvGrpSpPr>
          <p:grpSpPr>
            <a:xfrm>
              <a:off x="20167830" y="331442"/>
              <a:ext cx="1084526" cy="108452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SG"/>
              </a:p>
            </p:txBody>
          </p:sp>
        </p:grpSp>
        <p:sp>
          <p:nvSpPr>
            <p:cNvPr id="12" name="Freeform 12"/>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5"/>
              <a:stretch>
                <a:fillRect l="-95" t="-40049" r="-7054" b="-38629"/>
              </a:stretch>
            </a:blipFill>
          </p:spPr>
          <p:txBody>
            <a:bodyPr/>
            <a:lstStyle/>
            <a:p>
              <a:endParaRPr lang="en-SG"/>
            </a:p>
          </p:txBody>
        </p:sp>
        <p:sp>
          <p:nvSpPr>
            <p:cNvPr id="13" name="Freeform 13"/>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6"/>
              <a:stretch>
                <a:fillRect/>
              </a:stretch>
            </a:blipFill>
          </p:spPr>
          <p:txBody>
            <a:bodyPr/>
            <a:lstStyle/>
            <a:p>
              <a:endParaRPr lang="en-SG"/>
            </a:p>
          </p:txBody>
        </p:sp>
      </p:grpSp>
      <p:pic>
        <p:nvPicPr>
          <p:cNvPr id="15" name="Picture 14">
            <a:extLst>
              <a:ext uri="{FF2B5EF4-FFF2-40B4-BE49-F238E27FC236}">
                <a16:creationId xmlns:a16="http://schemas.microsoft.com/office/drawing/2014/main" id="{43AB24C0-F68B-D5C0-D6A0-25318084D227}"/>
              </a:ext>
            </a:extLst>
          </p:cNvPr>
          <p:cNvPicPr>
            <a:picLocks noChangeAspect="1"/>
          </p:cNvPicPr>
          <p:nvPr/>
        </p:nvPicPr>
        <p:blipFill>
          <a:blip r:embed="rId7">
            <a:extLst>
              <a:ext uri="{28A0092B-C50C-407E-A947-70E740481C1C}">
                <a14:useLocalDpi xmlns:a14="http://schemas.microsoft.com/office/drawing/2010/main" val="0"/>
              </a:ext>
            </a:extLst>
          </a:blip>
          <a:srcRect b="20622"/>
          <a:stretch>
            <a:fillRect/>
          </a:stretch>
        </p:blipFill>
        <p:spPr>
          <a:xfrm>
            <a:off x="1676400" y="3551957"/>
            <a:ext cx="14459800" cy="625547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SG"/>
          </a:p>
        </p:txBody>
      </p:sp>
      <p:sp>
        <p:nvSpPr>
          <p:cNvPr id="3" name="TextBox 3"/>
          <p:cNvSpPr txBox="1"/>
          <p:nvPr/>
        </p:nvSpPr>
        <p:spPr>
          <a:xfrm>
            <a:off x="632753" y="2476500"/>
            <a:ext cx="17426647" cy="8305415"/>
          </a:xfrm>
          <a:prstGeom prst="rect">
            <a:avLst/>
          </a:prstGeom>
        </p:spPr>
        <p:txBody>
          <a:bodyPr wrap="square" lIns="0" tIns="0" rIns="0" bIns="0" rtlCol="0" anchor="t">
            <a:spAutoFit/>
          </a:bodyPr>
          <a:lstStyle/>
          <a:p>
            <a:pPr>
              <a:lnSpc>
                <a:spcPts val="7300"/>
              </a:lnSpc>
            </a:pPr>
            <a:r>
              <a:rPr lang="en-US" sz="73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TECH STACK</a:t>
            </a:r>
          </a:p>
          <a:p>
            <a:pPr lvl="1">
              <a:lnSpc>
                <a:spcPts val="7300"/>
              </a:lnSpc>
            </a:pPr>
            <a:r>
              <a:rPr lang="en-US" sz="36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Frontend :	</a:t>
            </a:r>
            <a:r>
              <a:rPr lang="en-US" sz="3600" b="1" dirty="0">
                <a:solidFill>
                  <a:schemeClr val="bg1"/>
                </a:solidFill>
                <a:latin typeface="Montserrat Bold"/>
                <a:ea typeface="Montserrat Bold"/>
                <a:cs typeface="Montserrat Bold"/>
                <a:sym typeface="Montserrat Bold"/>
              </a:rPr>
              <a:t>HTML , CSS , JS</a:t>
            </a:r>
          </a:p>
          <a:p>
            <a:pPr lvl="1">
              <a:lnSpc>
                <a:spcPts val="7300"/>
              </a:lnSpc>
            </a:pPr>
            <a:r>
              <a:rPr lang="en-US" sz="36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Backend : </a:t>
            </a:r>
            <a:r>
              <a:rPr lang="en-US" sz="3600" b="1" dirty="0">
                <a:solidFill>
                  <a:schemeClr val="bg1"/>
                </a:solidFill>
                <a:latin typeface="Montserrat Bold"/>
                <a:ea typeface="Montserrat Bold"/>
                <a:cs typeface="Montserrat Bold"/>
                <a:sym typeface="Montserrat Bold"/>
              </a:rPr>
              <a:t>Django , </a:t>
            </a:r>
            <a:r>
              <a:rPr lang="en-US" sz="3600" b="1" dirty="0" err="1">
                <a:solidFill>
                  <a:schemeClr val="bg1"/>
                </a:solidFill>
                <a:latin typeface="Montserrat Bold"/>
                <a:ea typeface="Montserrat Bold"/>
                <a:cs typeface="Montserrat Bold"/>
                <a:sym typeface="Montserrat Bold"/>
              </a:rPr>
              <a:t>DjangoREST</a:t>
            </a:r>
            <a:r>
              <a:rPr lang="en-US" sz="3600" b="1" dirty="0">
                <a:solidFill>
                  <a:schemeClr val="bg1"/>
                </a:solidFill>
                <a:latin typeface="Montserrat Bold"/>
                <a:ea typeface="Montserrat Bold"/>
                <a:cs typeface="Montserrat Bold"/>
                <a:sym typeface="Montserrat Bold"/>
              </a:rPr>
              <a:t> Framework</a:t>
            </a:r>
          </a:p>
          <a:p>
            <a:pPr lvl="1">
              <a:lnSpc>
                <a:spcPts val="7300"/>
              </a:lnSpc>
            </a:pPr>
            <a:r>
              <a:rPr lang="en-US" sz="36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Database : </a:t>
            </a:r>
            <a:r>
              <a:rPr lang="en-US" sz="3600" b="1" dirty="0">
                <a:solidFill>
                  <a:schemeClr val="bg1"/>
                </a:solidFill>
                <a:latin typeface="Montserrat Bold"/>
                <a:ea typeface="Montserrat Bold"/>
                <a:cs typeface="Montserrat Bold"/>
                <a:sym typeface="Montserrat Bold"/>
              </a:rPr>
              <a:t>MongoDB , </a:t>
            </a:r>
            <a:r>
              <a:rPr lang="en-US" sz="3600" b="1" dirty="0" err="1">
                <a:solidFill>
                  <a:schemeClr val="bg1"/>
                </a:solidFill>
                <a:latin typeface="Montserrat Bold"/>
                <a:ea typeface="Montserrat Bold"/>
                <a:cs typeface="Montserrat Bold"/>
                <a:sym typeface="Montserrat Bold"/>
              </a:rPr>
              <a:t>sqlite</a:t>
            </a:r>
            <a:endParaRPr lang="en-US" sz="3600" b="1" dirty="0">
              <a:solidFill>
                <a:schemeClr val="bg1"/>
              </a:solidFill>
              <a:latin typeface="Montserrat Bold"/>
              <a:ea typeface="Montserrat Bold"/>
              <a:cs typeface="Montserrat Bold"/>
              <a:sym typeface="Montserrat Bold"/>
            </a:endParaRPr>
          </a:p>
          <a:p>
            <a:pPr lvl="1">
              <a:lnSpc>
                <a:spcPts val="7300"/>
              </a:lnSpc>
            </a:pPr>
            <a:r>
              <a:rPr lang="en-US" sz="36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LLM : </a:t>
            </a:r>
            <a:r>
              <a:rPr lang="en-IN" sz="3600" b="1" dirty="0">
                <a:solidFill>
                  <a:schemeClr val="bg1"/>
                </a:solidFill>
                <a:latin typeface="Montserrat Bold" panose="020B0604020202020204" charset="0"/>
              </a:rPr>
              <a:t>Llama-3.1-8b-instant</a:t>
            </a:r>
          </a:p>
          <a:p>
            <a:pPr lvl="1">
              <a:lnSpc>
                <a:spcPts val="7300"/>
              </a:lnSpc>
            </a:pPr>
            <a:r>
              <a:rPr lang="en-US" sz="36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Messaging : </a:t>
            </a:r>
            <a:r>
              <a:rPr lang="en-US" sz="3600" b="1" dirty="0">
                <a:solidFill>
                  <a:schemeClr val="bg1"/>
                </a:solidFill>
                <a:latin typeface="Montserrat Bold"/>
                <a:ea typeface="Montserrat Bold"/>
                <a:cs typeface="Montserrat Bold"/>
                <a:sym typeface="Montserrat Bold"/>
              </a:rPr>
              <a:t>Twilio (</a:t>
            </a:r>
            <a:r>
              <a:rPr lang="en-US" sz="3600" b="1" dirty="0" err="1">
                <a:solidFill>
                  <a:schemeClr val="bg1"/>
                </a:solidFill>
                <a:latin typeface="Montserrat Bold"/>
                <a:ea typeface="Montserrat Bold"/>
                <a:cs typeface="Montserrat Bold"/>
                <a:sym typeface="Montserrat Bold"/>
              </a:rPr>
              <a:t>Whatsapp</a:t>
            </a:r>
            <a:r>
              <a:rPr lang="en-US" sz="3600" b="1" dirty="0">
                <a:solidFill>
                  <a:schemeClr val="bg1"/>
                </a:solidFill>
                <a:latin typeface="Montserrat Bold"/>
                <a:ea typeface="Montserrat Bold"/>
                <a:cs typeface="Montserrat Bold"/>
                <a:sym typeface="Montserrat Bold"/>
              </a:rPr>
              <a:t>)</a:t>
            </a:r>
          </a:p>
          <a:p>
            <a:pPr lvl="1">
              <a:lnSpc>
                <a:spcPts val="7300"/>
              </a:lnSpc>
            </a:pPr>
            <a:r>
              <a:rPr lang="en-US" sz="36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Background Processing : </a:t>
            </a:r>
            <a:r>
              <a:rPr lang="en-US" sz="3600" b="1" dirty="0">
                <a:solidFill>
                  <a:schemeClr val="bg1"/>
                </a:solidFill>
                <a:latin typeface="Montserrat Bold"/>
                <a:ea typeface="Montserrat Bold"/>
                <a:cs typeface="Montserrat Bold"/>
                <a:sym typeface="Montserrat Bold"/>
              </a:rPr>
              <a:t>Celery , Redis</a:t>
            </a:r>
            <a:endParaRPr lang="en-US" sz="36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endParaRPr>
          </a:p>
          <a:p>
            <a:pPr lvl="1">
              <a:lnSpc>
                <a:spcPts val="7300"/>
              </a:lnSpc>
            </a:pPr>
            <a:r>
              <a:rPr lang="en-US" sz="36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App development : </a:t>
            </a:r>
            <a:r>
              <a:rPr lang="en-US" sz="3600" b="1" dirty="0">
                <a:solidFill>
                  <a:schemeClr val="bg1"/>
                </a:solidFill>
                <a:latin typeface="Montserrat Bold"/>
                <a:ea typeface="Montserrat Bold"/>
                <a:cs typeface="Montserrat Bold"/>
                <a:sym typeface="Montserrat Bold"/>
              </a:rPr>
              <a:t>Flutter</a:t>
            </a:r>
          </a:p>
          <a:p>
            <a:pPr lvl="1">
              <a:lnSpc>
                <a:spcPts val="7300"/>
              </a:lnSpc>
            </a:pPr>
            <a:endParaRPr lang="en-US" sz="3600" b="1" dirty="0">
              <a:solidFill>
                <a:schemeClr val="bg1"/>
              </a:solidFill>
              <a:latin typeface="Montserrat Bold"/>
              <a:ea typeface="Montserrat Bold"/>
              <a:cs typeface="Montserrat Bold"/>
              <a:sym typeface="Montserrat Bold"/>
            </a:endParaRPr>
          </a:p>
        </p:txBody>
      </p:sp>
      <p:grpSp>
        <p:nvGrpSpPr>
          <p:cNvPr id="4" name="Group 4"/>
          <p:cNvGrpSpPr/>
          <p:nvPr/>
        </p:nvGrpSpPr>
        <p:grpSpPr>
          <a:xfrm>
            <a:off x="632753" y="636360"/>
            <a:ext cx="17103324" cy="1479628"/>
            <a:chOff x="0" y="0"/>
            <a:chExt cx="22804433" cy="1972837"/>
          </a:xfrm>
        </p:grpSpPr>
        <p:grpSp>
          <p:nvGrpSpPr>
            <p:cNvPr id="5" name="Group 5"/>
            <p:cNvGrpSpPr/>
            <p:nvPr/>
          </p:nvGrpSpPr>
          <p:grpSpPr>
            <a:xfrm>
              <a:off x="14170825" y="0"/>
              <a:ext cx="8633608" cy="1747411"/>
              <a:chOff x="0" y="0"/>
              <a:chExt cx="979436" cy="198234"/>
            </a:xfrm>
          </p:grpSpPr>
          <p:sp>
            <p:nvSpPr>
              <p:cNvPr id="6" name="Freeform 6"/>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7" name="TextBox 7"/>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8" name="TextBox 8"/>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9" name="Freeform 9"/>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3"/>
              <a:stretch>
                <a:fillRect l="-12251" t="-36010" r="-12482" b="-53141"/>
              </a:stretch>
            </a:blipFill>
          </p:spPr>
          <p:txBody>
            <a:bodyPr/>
            <a:lstStyle/>
            <a:p>
              <a:endParaRPr lang="en-SG"/>
            </a:p>
          </p:txBody>
        </p:sp>
        <p:grpSp>
          <p:nvGrpSpPr>
            <p:cNvPr id="10" name="Group 10"/>
            <p:cNvGrpSpPr/>
            <p:nvPr/>
          </p:nvGrpSpPr>
          <p:grpSpPr>
            <a:xfrm>
              <a:off x="20167830" y="331442"/>
              <a:ext cx="1084526" cy="108452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SG"/>
              </a:p>
            </p:txBody>
          </p:sp>
        </p:grpSp>
        <p:sp>
          <p:nvSpPr>
            <p:cNvPr id="12" name="Freeform 12"/>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5"/>
              <a:stretch>
                <a:fillRect l="-95" t="-40049" r="-7054" b="-38629"/>
              </a:stretch>
            </a:blipFill>
          </p:spPr>
          <p:txBody>
            <a:bodyPr/>
            <a:lstStyle/>
            <a:p>
              <a:endParaRPr lang="en-SG"/>
            </a:p>
          </p:txBody>
        </p:sp>
        <p:sp>
          <p:nvSpPr>
            <p:cNvPr id="13" name="Freeform 13"/>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6"/>
              <a:stretch>
                <a:fillRect/>
              </a:stretch>
            </a:blipFill>
          </p:spPr>
          <p:txBody>
            <a:bodyPr/>
            <a:lstStyle/>
            <a:p>
              <a:endParaRPr lang="en-SG"/>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SG"/>
          </a:p>
        </p:txBody>
      </p:sp>
      <p:sp>
        <p:nvSpPr>
          <p:cNvPr id="3" name="TextBox 3"/>
          <p:cNvSpPr txBox="1"/>
          <p:nvPr/>
        </p:nvSpPr>
        <p:spPr>
          <a:xfrm>
            <a:off x="632753" y="2399569"/>
            <a:ext cx="14759647" cy="4572149"/>
          </a:xfrm>
          <a:prstGeom prst="rect">
            <a:avLst/>
          </a:prstGeom>
        </p:spPr>
        <p:txBody>
          <a:bodyPr wrap="square" lIns="0" tIns="0" rIns="0" bIns="0" rtlCol="0" anchor="t">
            <a:spAutoFit/>
          </a:bodyPr>
          <a:lstStyle/>
          <a:p>
            <a:pPr>
              <a:lnSpc>
                <a:spcPts val="7300"/>
              </a:lnSpc>
            </a:pPr>
            <a:r>
              <a:rPr lang="en-US" sz="7300" b="1" dirty="0">
                <a:gradFill>
                  <a:gsLst>
                    <a:gs pos="0">
                      <a:srgbClr val="0D5B2E">
                        <a:alpha val="100000"/>
                      </a:srgbClr>
                    </a:gs>
                    <a:gs pos="100000">
                      <a:srgbClr val="B8F4EB">
                        <a:alpha val="100000"/>
                      </a:srgbClr>
                    </a:gs>
                  </a:gsLst>
                  <a:lin ang="5400000"/>
                </a:gradFill>
                <a:latin typeface="Montserrat Bold"/>
                <a:ea typeface="Montserrat Bold"/>
                <a:cs typeface="Montserrat Bold"/>
                <a:sym typeface="Montserrat Bold"/>
              </a:rPr>
              <a:t>TEAM MEMBERS</a:t>
            </a:r>
          </a:p>
          <a:p>
            <a:pPr>
              <a:lnSpc>
                <a:spcPts val="7300"/>
              </a:lnSpc>
            </a:pPr>
            <a:r>
              <a:rPr lang="en-US" sz="7300" b="1" dirty="0">
                <a:gradFill>
                  <a:gsLst>
                    <a:gs pos="0">
                      <a:srgbClr val="0D5B2E">
                        <a:alpha val="100000"/>
                      </a:srgbClr>
                    </a:gs>
                    <a:gs pos="100000">
                      <a:srgbClr val="B8F4EB">
                        <a:alpha val="100000"/>
                      </a:srgbClr>
                    </a:gs>
                  </a:gsLst>
                  <a:lin ang="5400000"/>
                </a:gradFill>
                <a:latin typeface="Montserrat Bold"/>
                <a:ea typeface="Montserrat Bold"/>
                <a:cs typeface="Montserrat Bold"/>
                <a:sym typeface="Montserrat Bold"/>
              </a:rPr>
              <a:t>	</a:t>
            </a:r>
          </a:p>
          <a:p>
            <a:pPr>
              <a:lnSpc>
                <a:spcPts val="7300"/>
              </a:lnSpc>
            </a:pPr>
            <a:r>
              <a:rPr lang="en-US" sz="7300" b="1" dirty="0">
                <a:gradFill>
                  <a:gsLst>
                    <a:gs pos="0">
                      <a:srgbClr val="0D5B2E">
                        <a:alpha val="100000"/>
                      </a:srgbClr>
                    </a:gs>
                    <a:gs pos="100000">
                      <a:srgbClr val="B8F4EB">
                        <a:alpha val="100000"/>
                      </a:srgbClr>
                    </a:gs>
                  </a:gsLst>
                  <a:lin ang="5400000"/>
                </a:gradFill>
                <a:latin typeface="Montserrat Bold"/>
                <a:ea typeface="Montserrat Bold"/>
                <a:cs typeface="Montserrat Bold"/>
                <a:sym typeface="Montserrat Bold"/>
              </a:rPr>
              <a:t>	</a:t>
            </a:r>
            <a:r>
              <a:rPr lang="en-US" sz="4000" b="1" dirty="0">
                <a:solidFill>
                  <a:schemeClr val="bg1"/>
                </a:solidFill>
                <a:latin typeface="Montserrat Bold"/>
                <a:ea typeface="Montserrat Bold"/>
                <a:cs typeface="Montserrat Bold"/>
                <a:sym typeface="Montserrat Bold"/>
              </a:rPr>
              <a:t>1. Deepak P – Frontend &amp; agent analysis</a:t>
            </a:r>
          </a:p>
          <a:p>
            <a:pPr>
              <a:lnSpc>
                <a:spcPts val="7300"/>
              </a:lnSpc>
            </a:pPr>
            <a:r>
              <a:rPr lang="en-US" sz="4000" b="1" dirty="0">
                <a:solidFill>
                  <a:schemeClr val="bg1"/>
                </a:solidFill>
                <a:latin typeface="Montserrat Bold"/>
                <a:ea typeface="Montserrat Bold"/>
                <a:cs typeface="Montserrat Bold"/>
                <a:sym typeface="Montserrat Bold"/>
              </a:rPr>
              <a:t>	2. Jagan S – Backend &amp; database</a:t>
            </a:r>
          </a:p>
          <a:p>
            <a:pPr>
              <a:lnSpc>
                <a:spcPts val="7300"/>
              </a:lnSpc>
            </a:pPr>
            <a:r>
              <a:rPr lang="en-US" sz="4000" b="1" dirty="0">
                <a:solidFill>
                  <a:schemeClr val="bg1"/>
                </a:solidFill>
                <a:latin typeface="Montserrat Bold"/>
                <a:ea typeface="Montserrat Bold"/>
                <a:cs typeface="Montserrat Bold"/>
                <a:sym typeface="Montserrat Bold"/>
              </a:rPr>
              <a:t>	3. Sunny Joseph A – Ai &amp; messaging services</a:t>
            </a:r>
          </a:p>
        </p:txBody>
      </p:sp>
      <p:grpSp>
        <p:nvGrpSpPr>
          <p:cNvPr id="4" name="Group 4"/>
          <p:cNvGrpSpPr/>
          <p:nvPr/>
        </p:nvGrpSpPr>
        <p:grpSpPr>
          <a:xfrm>
            <a:off x="632753" y="636360"/>
            <a:ext cx="17103324" cy="1479628"/>
            <a:chOff x="0" y="0"/>
            <a:chExt cx="22804433" cy="1972837"/>
          </a:xfrm>
        </p:grpSpPr>
        <p:grpSp>
          <p:nvGrpSpPr>
            <p:cNvPr id="5" name="Group 5"/>
            <p:cNvGrpSpPr/>
            <p:nvPr/>
          </p:nvGrpSpPr>
          <p:grpSpPr>
            <a:xfrm>
              <a:off x="14170825" y="0"/>
              <a:ext cx="8633608" cy="1747411"/>
              <a:chOff x="0" y="0"/>
              <a:chExt cx="979436" cy="198234"/>
            </a:xfrm>
          </p:grpSpPr>
          <p:sp>
            <p:nvSpPr>
              <p:cNvPr id="6" name="Freeform 6"/>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7" name="TextBox 7"/>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8" name="TextBox 8"/>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9" name="Freeform 9"/>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3"/>
              <a:stretch>
                <a:fillRect l="-12251" t="-36010" r="-12482" b="-53141"/>
              </a:stretch>
            </a:blipFill>
          </p:spPr>
          <p:txBody>
            <a:bodyPr/>
            <a:lstStyle/>
            <a:p>
              <a:endParaRPr lang="en-SG"/>
            </a:p>
          </p:txBody>
        </p:sp>
        <p:grpSp>
          <p:nvGrpSpPr>
            <p:cNvPr id="10" name="Group 10"/>
            <p:cNvGrpSpPr/>
            <p:nvPr/>
          </p:nvGrpSpPr>
          <p:grpSpPr>
            <a:xfrm>
              <a:off x="20167830" y="331442"/>
              <a:ext cx="1084526" cy="108452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SG"/>
              </a:p>
            </p:txBody>
          </p:sp>
        </p:grpSp>
        <p:sp>
          <p:nvSpPr>
            <p:cNvPr id="12" name="Freeform 12"/>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5"/>
              <a:stretch>
                <a:fillRect l="-95" t="-40049" r="-7054" b="-38629"/>
              </a:stretch>
            </a:blipFill>
          </p:spPr>
          <p:txBody>
            <a:bodyPr/>
            <a:lstStyle/>
            <a:p>
              <a:endParaRPr lang="en-SG"/>
            </a:p>
          </p:txBody>
        </p:sp>
        <p:sp>
          <p:nvSpPr>
            <p:cNvPr id="13" name="Freeform 13"/>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6"/>
              <a:stretch>
                <a:fillRect/>
              </a:stretch>
            </a:blipFill>
          </p:spPr>
          <p:txBody>
            <a:bodyPr/>
            <a:lstStyle/>
            <a:p>
              <a:endParaRPr lang="en-SG"/>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5B8DAE0642B942BB833EAABF75097C" ma:contentTypeVersion="9" ma:contentTypeDescription="Create a new document." ma:contentTypeScope="" ma:versionID="7eee752413ace48018808fe7e448a0ec">
  <xsd:schema xmlns:xsd="http://www.w3.org/2001/XMLSchema" xmlns:xs="http://www.w3.org/2001/XMLSchema" xmlns:p="http://schemas.microsoft.com/office/2006/metadata/properties" xmlns:ns3="d34c6c18-4ad7-4e7f-8c7d-cff3ba25f783" targetNamespace="http://schemas.microsoft.com/office/2006/metadata/properties" ma:root="true" ma:fieldsID="1a5e1a1fae4a9f5524bee5798ac7a775" ns3:_="">
    <xsd:import namespace="d34c6c18-4ad7-4e7f-8c7d-cff3ba25f783"/>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4c6c18-4ad7-4e7f-8c7d-cff3ba25f78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d34c6c18-4ad7-4e7f-8c7d-cff3ba25f78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2031D1B-FF95-48F7-95A3-798E6FB22B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34c6c18-4ad7-4e7f-8c7d-cff3ba25f78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B2B98B8-3D4F-4714-8DBA-0D8F614EE67F}">
  <ds:schemaRefs>
    <ds:schemaRef ds:uri="http://purl.org/dc/terms/"/>
    <ds:schemaRef ds:uri="http://purl.org/dc/elements/1.1/"/>
    <ds:schemaRef ds:uri="http://schemas.microsoft.com/office/2006/metadata/properties"/>
    <ds:schemaRef ds:uri="http://schemas.microsoft.com/office/infopath/2007/PartnerControls"/>
    <ds:schemaRef ds:uri="http://purl.org/dc/dcmitype/"/>
    <ds:schemaRef ds:uri="http://schemas.microsoft.com/office/2006/documentManagement/types"/>
    <ds:schemaRef ds:uri="http://schemas.openxmlformats.org/package/2006/metadata/core-properties"/>
    <ds:schemaRef ds:uri="d34c6c18-4ad7-4e7f-8c7d-cff3ba25f783"/>
    <ds:schemaRef ds:uri="http://www.w3.org/XML/1998/namespace"/>
  </ds:schemaRefs>
</ds:datastoreItem>
</file>

<file path=customXml/itemProps3.xml><?xml version="1.0" encoding="utf-8"?>
<ds:datastoreItem xmlns:ds="http://schemas.openxmlformats.org/officeDocument/2006/customXml" ds:itemID="{3D3185E2-E753-47F3-9D69-7177EDDA11F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108</TotalTime>
  <Words>442</Words>
  <Application>Microsoft Office PowerPoint</Application>
  <PresentationFormat>Custom</PresentationFormat>
  <Paragraphs>42</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Arimo</vt:lpstr>
      <vt:lpstr>Montserrat Bold</vt:lpstr>
      <vt:lpstr>Calibri</vt:lpstr>
      <vt:lpstr>Arial</vt:lpstr>
      <vt:lpstr>Playfair Display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GLITCHCON 2.0</dc:title>
  <cp:lastModifiedBy>JAGAN S</cp:lastModifiedBy>
  <cp:revision>8</cp:revision>
  <dcterms:created xsi:type="dcterms:W3CDTF">2006-08-16T00:00:00Z</dcterms:created>
  <dcterms:modified xsi:type="dcterms:W3CDTF">2026-03-10T07:14:57Z</dcterms:modified>
  <dc:identifier>DAG7o8SITjs</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0x010100265B8DAE0642B942BB833EAABF75097C</vt:lpwstr>
  </property>
</Properties>
</file>